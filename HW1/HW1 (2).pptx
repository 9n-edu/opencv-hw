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16"/>
  </p:handoutMasterIdLst>
  <p:sldIdLst>
    <p:sldId id="256" r:id="rId2"/>
    <p:sldId id="259" r:id="rId3"/>
    <p:sldId id="260" r:id="rId4"/>
    <p:sldId id="261" r:id="rId5"/>
    <p:sldId id="272" r:id="rId6"/>
    <p:sldId id="263" r:id="rId7"/>
    <p:sldId id="262" r:id="rId8"/>
    <p:sldId id="264" r:id="rId9"/>
    <p:sldId id="265" r:id="rId10"/>
    <p:sldId id="266" r:id="rId11"/>
    <p:sldId id="267" r:id="rId12"/>
    <p:sldId id="270" r:id="rId13"/>
    <p:sldId id="271" r:id="rId14"/>
    <p:sldId id="273" r:id="rId15"/>
  </p:sldIdLst>
  <p:sldSz cx="9144000" cy="6858000" type="screen4x3"/>
  <p:notesSz cx="9928225" cy="67976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5"/>
    <p:restoredTop sz="94635"/>
  </p:normalViewPr>
  <p:slideViewPr>
    <p:cSldViewPr>
      <p:cViewPr varScale="1">
        <p:scale>
          <a:sx n="109" d="100"/>
          <a:sy n="109" d="100"/>
        </p:scale>
        <p:origin x="1668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6E173-F26C-4E71-B460-B03D9021BAEA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22594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37B51-EECD-4771-BBD1-C60B687B0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951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線接點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線接點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橢圓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橢圓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橢圓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線接點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線接點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橢圓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橢圓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橢圓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線接點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內容版面配置區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1" name="日期版面配置區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3" name="頁尾版面配置區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線接點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線接點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版面配置區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頁尾版面配置區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60A2FC9-3A3F-4546-B1FC-84E6BAA37882}" type="datetimeFigureOut">
              <a:rPr lang="zh-TW" altLang="en-US" smtClean="0"/>
              <a:t>2025/10/7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en.wikipedia.org/wiki/Grayscal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7" Type="http://schemas.openxmlformats.org/officeDocument/2006/relationships/image" Target="../media/image12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2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HW 2   (Due :10/19)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  <a:p>
            <a:r>
              <a:rPr lang="zh-TW" altLang="en-US" dirty="0"/>
              <a:t>基本影像處理功能</a:t>
            </a:r>
            <a:r>
              <a:rPr lang="en-US" altLang="zh-TW" dirty="0"/>
              <a:t>-</a:t>
            </a:r>
            <a:r>
              <a:rPr lang="zh-TW" altLang="en-US" dirty="0"/>
              <a:t>放大</a:t>
            </a:r>
            <a:r>
              <a:rPr lang="en-US" altLang="zh-TW" dirty="0"/>
              <a:t>/</a:t>
            </a:r>
            <a:r>
              <a:rPr lang="zh-TW" altLang="en-US" dirty="0"/>
              <a:t>縮小</a:t>
            </a:r>
            <a:r>
              <a:rPr lang="en-US" altLang="zh-TW" dirty="0"/>
              <a:t>/</a:t>
            </a:r>
            <a:r>
              <a:rPr lang="zh-TW" altLang="en-US" dirty="0"/>
              <a:t>旋轉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9192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要求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59216" cy="4873752"/>
          </a:xfrm>
        </p:spPr>
        <p:txBody>
          <a:bodyPr>
            <a:normAutofit lnSpcReduction="10000"/>
          </a:bodyPr>
          <a:lstStyle/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利用</a:t>
            </a:r>
            <a:r>
              <a:rPr lang="en-US" altLang="zh-TW" dirty="0" err="1"/>
              <a:t>OpenCV</a:t>
            </a:r>
            <a:r>
              <a:rPr lang="zh-TW" altLang="en-US" dirty="0"/>
              <a:t>寫出幾個簡單的影像處理功能：</a:t>
            </a:r>
            <a:endParaRPr lang="en-US" altLang="zh-TW" dirty="0"/>
          </a:p>
          <a:p>
            <a:r>
              <a:rPr lang="zh-TW" altLang="en-US" dirty="0"/>
              <a:t>寫一個程式能讀取彩色照片</a:t>
            </a:r>
            <a:r>
              <a:rPr lang="en-US" altLang="zh-TW" dirty="0"/>
              <a:t>(</a:t>
            </a:r>
            <a:r>
              <a:rPr lang="zh-TW" altLang="en-US" dirty="0"/>
              <a:t>建議</a:t>
            </a:r>
            <a:r>
              <a:rPr lang="en-US" altLang="zh-TW" dirty="0"/>
              <a:t>600*600</a:t>
            </a:r>
            <a:r>
              <a:rPr lang="zh-TW" altLang="en-US" dirty="0"/>
              <a:t>以內</a:t>
            </a:r>
            <a:r>
              <a:rPr lang="en-US" altLang="zh-TW" dirty="0"/>
              <a:t>)</a:t>
            </a:r>
            <a:r>
              <a:rPr lang="zh-TW" altLang="en-US" dirty="0"/>
              <a:t>，並包含以下功能</a:t>
            </a:r>
            <a:endParaRPr lang="en-US" altLang="zh-TW" dirty="0"/>
          </a:p>
          <a:p>
            <a:pPr lvl="1"/>
            <a:r>
              <a:rPr lang="zh-TW" altLang="en-US" dirty="0"/>
              <a:t>將彩色圖轉成黑白</a:t>
            </a:r>
            <a:endParaRPr lang="en-US" altLang="zh-TW" dirty="0"/>
          </a:p>
          <a:p>
            <a:pPr lvl="1"/>
            <a:r>
              <a:rPr lang="zh-TW" altLang="en-US" dirty="0"/>
              <a:t>輸入一個浮點數</a:t>
            </a:r>
            <a:r>
              <a:rPr lang="en-US" altLang="zh-TW" dirty="0"/>
              <a:t>(0.1 ~ 2)</a:t>
            </a:r>
            <a:r>
              <a:rPr lang="zh-TW" altLang="en-US" dirty="0"/>
              <a:t>，將影像放大或縮小</a:t>
            </a:r>
            <a:endParaRPr lang="en-US" altLang="zh-TW" dirty="0"/>
          </a:p>
          <a:p>
            <a:pPr lvl="2"/>
            <a:r>
              <a:rPr lang="zh-TW" altLang="en-US" dirty="0"/>
              <a:t>例如原圖是</a:t>
            </a:r>
            <a:r>
              <a:rPr lang="en-US" altLang="zh-TW" dirty="0"/>
              <a:t>600*600</a:t>
            </a:r>
            <a:r>
              <a:rPr lang="zh-TW" altLang="en-US" dirty="0"/>
              <a:t>，如果輸入</a:t>
            </a:r>
            <a:r>
              <a:rPr lang="en-US" altLang="zh-TW" dirty="0"/>
              <a:t>0.3</a:t>
            </a:r>
            <a:r>
              <a:rPr lang="zh-TW" altLang="en-US" dirty="0"/>
              <a:t>，則輸出</a:t>
            </a:r>
            <a:r>
              <a:rPr lang="en-US" altLang="zh-TW" dirty="0"/>
              <a:t>600*0.3=180*180</a:t>
            </a:r>
            <a:r>
              <a:rPr lang="zh-TW" altLang="en-US" dirty="0"/>
              <a:t>的圖片</a:t>
            </a:r>
            <a:endParaRPr lang="en-US" altLang="zh-TW" dirty="0"/>
          </a:p>
          <a:p>
            <a:pPr lvl="2"/>
            <a:r>
              <a:rPr lang="zh-TW" altLang="en-US" dirty="0"/>
              <a:t>提供最近鄰內插和線性內插兩種選擇</a:t>
            </a:r>
            <a:endParaRPr lang="en-US" altLang="zh-TW" dirty="0"/>
          </a:p>
          <a:p>
            <a:pPr lvl="1"/>
            <a:r>
              <a:rPr lang="zh-TW" altLang="en-US" dirty="0"/>
              <a:t>輸入一個整數</a:t>
            </a:r>
            <a:r>
              <a:rPr lang="en-US" altLang="zh-TW" dirty="0"/>
              <a:t>(0-360)</a:t>
            </a:r>
            <a:r>
              <a:rPr lang="zh-TW" altLang="en-US" dirty="0"/>
              <a:t>，將影像</a:t>
            </a:r>
            <a:r>
              <a:rPr lang="en-US" altLang="zh-TW" dirty="0"/>
              <a:t>(</a:t>
            </a:r>
            <a:r>
              <a:rPr lang="zh-TW" altLang="en-US" dirty="0"/>
              <a:t>以中心</a:t>
            </a:r>
            <a:r>
              <a:rPr lang="en-US" altLang="zh-TW" dirty="0"/>
              <a:t>)</a:t>
            </a:r>
            <a:r>
              <a:rPr lang="zh-TW" altLang="en-US" dirty="0"/>
              <a:t>逆時針旋轉</a:t>
            </a:r>
            <a:endParaRPr lang="en-US" altLang="zh-TW" dirty="0"/>
          </a:p>
          <a:p>
            <a:pPr lvl="1"/>
            <a:r>
              <a:rPr lang="zh-TW" altLang="en-US" dirty="0"/>
              <a:t>實作包含</a:t>
            </a:r>
            <a:r>
              <a:rPr lang="en-US" altLang="zh-TW" dirty="0"/>
              <a:t>forward mapping</a:t>
            </a:r>
            <a:r>
              <a:rPr lang="zh-TW" altLang="en-US" dirty="0"/>
              <a:t>和</a:t>
            </a:r>
            <a:r>
              <a:rPr lang="en-US" altLang="zh-TW" dirty="0"/>
              <a:t>inverse mapping</a:t>
            </a:r>
          </a:p>
          <a:p>
            <a:pPr lvl="1"/>
            <a:r>
              <a:rPr lang="zh-TW" altLang="en-US" dirty="0"/>
              <a:t>自動在輸出圖片的右下角加上簽名檔</a:t>
            </a:r>
            <a:endParaRPr lang="en-US" altLang="zh-CN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116632"/>
            <a:ext cx="2293136" cy="229313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4674" y="2079897"/>
            <a:ext cx="848614" cy="32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29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限制</a:t>
            </a:r>
            <a:r>
              <a:rPr lang="en-US" altLang="zh-TW" dirty="0"/>
              <a:t>/</a:t>
            </a:r>
            <a:r>
              <a:rPr lang="zh-TW" altLang="en-US" dirty="0"/>
              <a:t>評分標準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357192"/>
          </a:xfrm>
        </p:spPr>
        <p:txBody>
          <a:bodyPr>
            <a:normAutofit/>
          </a:bodyPr>
          <a:lstStyle/>
          <a:p>
            <a:r>
              <a:rPr lang="zh-TW" altLang="en-US" dirty="0"/>
              <a:t>不可使用</a:t>
            </a:r>
            <a:r>
              <a:rPr lang="en-US" altLang="zh-TW" dirty="0" err="1"/>
              <a:t>OpenCV</a:t>
            </a:r>
            <a:r>
              <a:rPr lang="zh-TW" altLang="en-US" dirty="0"/>
              <a:t>內建之縮放、旋轉等函數。</a:t>
            </a:r>
            <a:endParaRPr lang="en-US" altLang="zh-TW" dirty="0"/>
          </a:p>
          <a:p>
            <a:pPr lvl="1"/>
            <a:r>
              <a:rPr lang="zh-TW" altLang="en-US" dirty="0"/>
              <a:t>請全部使用</a:t>
            </a:r>
            <a:r>
              <a:rPr lang="en-US" altLang="zh-TW" dirty="0"/>
              <a:t>Pixel-wise operation</a:t>
            </a:r>
            <a:r>
              <a:rPr lang="zh-TW" altLang="en-US" dirty="0"/>
              <a:t>加減乘除去寫 </a:t>
            </a:r>
            <a:r>
              <a:rPr lang="en-US" altLang="zh-TW" dirty="0"/>
              <a:t>^_&lt;</a:t>
            </a:r>
          </a:p>
          <a:p>
            <a:pPr lvl="1"/>
            <a:r>
              <a:rPr lang="zh-TW" altLang="en-US" dirty="0"/>
              <a:t>禁止</a:t>
            </a:r>
            <a:r>
              <a:rPr lang="en-US" altLang="zh-TW" dirty="0" err="1"/>
              <a:t>Rect</a:t>
            </a:r>
            <a:r>
              <a:rPr lang="zh-TW" altLang="en-US" dirty="0"/>
              <a:t>、</a:t>
            </a:r>
            <a:r>
              <a:rPr lang="en-US" altLang="zh-TW" dirty="0"/>
              <a:t>Range</a:t>
            </a:r>
            <a:r>
              <a:rPr lang="zh-TW" altLang="en-US" dirty="0"/>
              <a:t>、</a:t>
            </a:r>
            <a:r>
              <a:rPr lang="en-US" altLang="zh-TW" dirty="0"/>
              <a:t>Slice</a:t>
            </a:r>
            <a:r>
              <a:rPr lang="zh-TW" altLang="en-US" dirty="0"/>
              <a:t>等用法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嚴禁抄襲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/>
              <a:t>配分</a:t>
            </a:r>
            <a:endParaRPr lang="en-US" altLang="zh-TW" dirty="0"/>
          </a:p>
          <a:p>
            <a:pPr lvl="1"/>
            <a:r>
              <a:rPr lang="zh-TW" altLang="en-US" dirty="0"/>
              <a:t>彩色轉黑白：</a:t>
            </a:r>
            <a:r>
              <a:rPr lang="en-US" altLang="zh-TW" dirty="0"/>
              <a:t>10%</a:t>
            </a:r>
          </a:p>
          <a:p>
            <a:pPr lvl="1"/>
            <a:r>
              <a:rPr lang="zh-TW" altLang="en-US" dirty="0"/>
              <a:t>最近鄰放大</a:t>
            </a:r>
            <a:r>
              <a:rPr lang="en-US" altLang="zh-TW" dirty="0"/>
              <a:t>/</a:t>
            </a:r>
            <a:r>
              <a:rPr lang="zh-TW" altLang="en-US" dirty="0"/>
              <a:t>縮小：</a:t>
            </a:r>
            <a:r>
              <a:rPr lang="en-US" altLang="zh-TW" dirty="0"/>
              <a:t>30%</a:t>
            </a:r>
          </a:p>
          <a:p>
            <a:pPr lvl="1"/>
            <a:r>
              <a:rPr lang="zh-TW" altLang="en-US" dirty="0"/>
              <a:t>線性放大</a:t>
            </a:r>
            <a:r>
              <a:rPr lang="en-US" altLang="zh-TW" dirty="0"/>
              <a:t>/</a:t>
            </a:r>
            <a:r>
              <a:rPr lang="zh-TW" altLang="en-US" dirty="0"/>
              <a:t>縮小：</a:t>
            </a:r>
            <a:r>
              <a:rPr lang="en-US" altLang="zh-TW" dirty="0"/>
              <a:t>30%</a:t>
            </a:r>
          </a:p>
          <a:p>
            <a:pPr lvl="1"/>
            <a:r>
              <a:rPr lang="zh-TW" altLang="en-US" dirty="0"/>
              <a:t>旋轉：</a:t>
            </a:r>
            <a:r>
              <a:rPr lang="en-US" altLang="zh-TW" dirty="0"/>
              <a:t>30%</a:t>
            </a:r>
          </a:p>
          <a:p>
            <a:pPr marL="365760" lvl="1" indent="0">
              <a:buNone/>
            </a:pPr>
            <a:endParaRPr lang="en-US" altLang="zh-TW" dirty="0"/>
          </a:p>
          <a:p>
            <a:pPr lvl="1"/>
            <a:r>
              <a:rPr lang="zh-TW" altLang="en-US" dirty="0"/>
              <a:t>簽名檔：</a:t>
            </a:r>
            <a:r>
              <a:rPr lang="en-US" altLang="zh-TW" dirty="0"/>
              <a:t>10%</a:t>
            </a:r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99972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繳交方式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Deadline</a:t>
            </a:r>
            <a:r>
              <a:rPr lang="zh-TW" altLang="en-US" dirty="0"/>
              <a:t>：</a:t>
            </a:r>
            <a:r>
              <a:rPr lang="en-US" altLang="zh-TW" dirty="0"/>
              <a:t>10/19(SUN) 23:59:59</a:t>
            </a:r>
          </a:p>
          <a:p>
            <a:r>
              <a:rPr lang="zh-TW" altLang="en-US" dirty="0"/>
              <a:t>繳交內容：</a:t>
            </a:r>
            <a:r>
              <a:rPr lang="en-US" altLang="zh-TW" dirty="0"/>
              <a:t>source code</a:t>
            </a:r>
            <a:r>
              <a:rPr lang="zh-TW" altLang="en-US" dirty="0"/>
              <a:t>、編譯後的可執行檔、</a:t>
            </a:r>
            <a:r>
              <a:rPr lang="en-US" altLang="zh-TW" dirty="0"/>
              <a:t>WORD</a:t>
            </a:r>
            <a:r>
              <a:rPr lang="zh-TW" altLang="en-US" dirty="0"/>
              <a:t>報告包含程式碼、註解、執行結果和心得討論</a:t>
            </a:r>
            <a:r>
              <a:rPr lang="en-US" altLang="zh-TW" dirty="0"/>
              <a:t>(</a:t>
            </a:r>
            <a:r>
              <a:rPr lang="zh-TW" altLang="en-US" dirty="0"/>
              <a:t>根據結果比較兩種內插方式的差別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上傳至</a:t>
            </a:r>
            <a:r>
              <a:rPr lang="en-US" altLang="zh-TW" dirty="0" err="1"/>
              <a:t>iLearn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要</a:t>
            </a:r>
            <a:r>
              <a:rPr lang="en-US" altLang="zh-TW" dirty="0"/>
              <a:t>Demo…..</a:t>
            </a:r>
            <a:r>
              <a:rPr lang="zh-TW" altLang="en-US" dirty="0"/>
              <a:t>嗎</a:t>
            </a:r>
            <a:r>
              <a:rPr lang="en-US" altLang="zh-TW" dirty="0"/>
              <a:t>?</a:t>
            </a:r>
          </a:p>
          <a:p>
            <a:pPr lvl="1"/>
            <a:r>
              <a:rPr lang="zh-TW" altLang="en-US" dirty="0"/>
              <a:t>不用好了我人很</a:t>
            </a:r>
            <a:r>
              <a:rPr lang="en-US" altLang="zh-TW" dirty="0"/>
              <a:t>NICE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7093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轉黑白</a:t>
            </a:r>
            <a:r>
              <a:rPr lang="en-US" altLang="zh-TW" dirty="0"/>
              <a:t>(Gray Image)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參考：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https://en.wikipedia.org/wiki/Grayscale</a:t>
            </a:r>
            <a:endParaRPr lang="en-US" altLang="zh-TW" dirty="0"/>
          </a:p>
          <a:p>
            <a:r>
              <a:rPr lang="zh-TW" altLang="en-US" dirty="0"/>
              <a:t>一般常用的公式是：</a:t>
            </a:r>
            <a:r>
              <a:rPr lang="en-US" altLang="zh-TW" dirty="0"/>
              <a:t>I = 0.3*Ir+0.6*Ig+0.1*</a:t>
            </a:r>
            <a:r>
              <a:rPr lang="en-US" altLang="zh-TW" dirty="0" err="1"/>
              <a:t>Ib</a:t>
            </a:r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和直接平均的結果不一樣</a:t>
            </a:r>
            <a:r>
              <a:rPr lang="en-US" altLang="zh-TW" dirty="0">
                <a:solidFill>
                  <a:srgbClr val="FF0000"/>
                </a:solidFill>
              </a:rPr>
              <a:t>!!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2492896"/>
            <a:ext cx="1843651" cy="193522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4509120"/>
            <a:ext cx="6264696" cy="218849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5"/>
          <a:srcRect t="63668" b="20634"/>
          <a:stretch/>
        </p:blipFill>
        <p:spPr>
          <a:xfrm>
            <a:off x="463849" y="3377621"/>
            <a:ext cx="5918492" cy="72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0A3E90-8CA3-F740-8773-F488B8F3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2.4.4 </a:t>
            </a:r>
            <a:r>
              <a:rPr kumimoji="1" lang="zh-CN" altLang="en-US" dirty="0"/>
              <a:t>影像內插</a:t>
            </a:r>
            <a:r>
              <a:rPr kumimoji="1" lang="en-US" altLang="zh-CN" dirty="0"/>
              <a:t> (Interpolation)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81053F-9DF3-9145-B92B-F1AFE7473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01948"/>
            <a:ext cx="8286749" cy="4989667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線性內插</a:t>
            </a:r>
            <a:r>
              <a:rPr kumimoji="1" lang="en-US" altLang="zh-CN" sz="2400" dirty="0"/>
              <a:t> (linear interpolation)</a:t>
            </a:r>
            <a:r>
              <a:rPr kumimoji="1" lang="zh-CN" altLang="en-US" sz="2400" dirty="0"/>
              <a:t>：考慮最近</a:t>
            </a:r>
            <a:r>
              <a:rPr kumimoji="1" lang="en-US" altLang="zh-CN" sz="2400" dirty="0"/>
              <a:t>4</a:t>
            </a:r>
            <a:r>
              <a:rPr kumimoji="1" lang="zh-CN" altLang="en-US" sz="2400" dirty="0"/>
              <a:t>個點</a:t>
            </a:r>
            <a:endParaRPr kumimoji="1" lang="en-US" altLang="zh-CN" sz="2400" dirty="0"/>
          </a:p>
          <a:p>
            <a:endParaRPr kumimoji="1"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1599E4-6AD9-8940-9B0D-1ACCA8C65A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70B7430-D1C7-4683-AB27-07761046DF7E}" type="slidenum">
              <a:rPr lang="en-US" smtClean="0"/>
              <a:t>6</a:t>
            </a:fld>
            <a:endParaRPr 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52227D0-D2EF-474C-9FEF-E3CC49F3AB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51"/>
          <a:stretch/>
        </p:blipFill>
        <p:spPr>
          <a:xfrm>
            <a:off x="274169" y="3774258"/>
            <a:ext cx="4281647" cy="2586797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3281B8CE-FFE7-F249-A8CC-2222DC76C035}"/>
              </a:ext>
            </a:extLst>
          </p:cNvPr>
          <p:cNvGrpSpPr/>
          <p:nvPr/>
        </p:nvGrpSpPr>
        <p:grpSpPr>
          <a:xfrm>
            <a:off x="1474692" y="2050507"/>
            <a:ext cx="4157365" cy="1199762"/>
            <a:chOff x="1060280" y="2105969"/>
            <a:chExt cx="3715764" cy="1072322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84EDD102-F53E-4E48-8300-79D660873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6282" y="2105969"/>
              <a:ext cx="1429762" cy="1072322"/>
            </a:xfrm>
            <a:prstGeom prst="rect">
              <a:avLst/>
            </a:prstGeom>
          </p:spPr>
        </p:pic>
        <p:pic>
          <p:nvPicPr>
            <p:cNvPr id="11" name="內容版面配置區 5">
              <a:extLst>
                <a:ext uri="{FF2B5EF4-FFF2-40B4-BE49-F238E27FC236}">
                  <a16:creationId xmlns:a16="http://schemas.microsoft.com/office/drawing/2014/main" id="{13700F5E-F50D-A346-9AB5-2FB4B7483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280" y="2297817"/>
              <a:ext cx="1854371" cy="574855"/>
            </a:xfrm>
            <a:prstGeom prst="rect">
              <a:avLst/>
            </a:prstGeom>
          </p:spPr>
        </p:pic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82198F0E-7DA3-244B-8712-85E528DDB0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544" y="5417049"/>
            <a:ext cx="1690624" cy="87172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5104264-E95E-004E-AB88-544A47FB36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544" y="4348485"/>
            <a:ext cx="1954784" cy="87172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9D2049E-1EEF-2F43-B6BB-BDF5F54CD9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296" y="4348485"/>
            <a:ext cx="1799768" cy="1429228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B7E194C0-F444-4444-A3EA-DBEA3C44F9E7}"/>
              </a:ext>
            </a:extLst>
          </p:cNvPr>
          <p:cNvSpPr txBox="1"/>
          <p:nvPr/>
        </p:nvSpPr>
        <p:spPr>
          <a:xfrm>
            <a:off x="825388" y="6074371"/>
            <a:ext cx="728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 =1 </a:t>
            </a:r>
          </a:p>
          <a:p>
            <a:r>
              <a:rPr kumimoji="1" lang="en-US" altLang="zh-TW" dirty="0"/>
              <a:t>H = 1</a:t>
            </a:r>
            <a:endParaRPr kumimoji="1"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A4A630-BF3C-B444-88D8-365E2C4DE2DA}"/>
              </a:ext>
            </a:extLst>
          </p:cNvPr>
          <p:cNvSpPr/>
          <p:nvPr/>
        </p:nvSpPr>
        <p:spPr>
          <a:xfrm>
            <a:off x="4032374" y="1958273"/>
            <a:ext cx="1785799" cy="1391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88C52E-81B7-7C40-896E-0AA98B1F1553}"/>
              </a:ext>
            </a:extLst>
          </p:cNvPr>
          <p:cNvSpPr/>
          <p:nvPr/>
        </p:nvSpPr>
        <p:spPr>
          <a:xfrm>
            <a:off x="4745566" y="4030577"/>
            <a:ext cx="4273762" cy="2418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6516216" y="2348880"/>
            <a:ext cx="25042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當</a:t>
            </a:r>
            <a:r>
              <a:rPr lang="en-US" altLang="zh-TW" dirty="0"/>
              <a:t>L=1  (</a:t>
            </a:r>
            <a:r>
              <a:rPr lang="zh-TW" altLang="en-US" dirty="0"/>
              <a:t>像素距離</a:t>
            </a:r>
            <a:r>
              <a:rPr lang="en-US" altLang="zh-TW" dirty="0"/>
              <a:t>)</a:t>
            </a:r>
            <a:r>
              <a:rPr lang="zh-TW" altLang="en-US" dirty="0"/>
              <a:t>時：</a:t>
            </a:r>
            <a:endParaRPr lang="en-US" altLang="zh-TW" dirty="0"/>
          </a:p>
          <a:p>
            <a:r>
              <a:rPr lang="en-US" altLang="zh-TW" i="1" dirty="0"/>
              <a:t>Y=</a:t>
            </a:r>
            <a:r>
              <a:rPr lang="en-US" altLang="zh-TW" i="1" dirty="0" err="1"/>
              <a:t>A+l</a:t>
            </a:r>
            <a:r>
              <a:rPr lang="en-US" altLang="zh-TW" i="1" dirty="0"/>
              <a:t>(B-A)</a:t>
            </a:r>
          </a:p>
          <a:p>
            <a:r>
              <a:rPr lang="en-US" altLang="zh-TW" i="1" dirty="0"/>
              <a:t>   =A(1-l)+B(l)</a:t>
            </a:r>
            <a:endParaRPr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val="646242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5220071" y="4830233"/>
            <a:ext cx="1867633" cy="194421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2198F0E-7DA3-244B-8712-85E528DDB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800" y="1401220"/>
            <a:ext cx="1690624" cy="87172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5104264-E95E-004E-AB88-544A47FB3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800" y="332656"/>
            <a:ext cx="1954784" cy="87172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9D2049E-1EEF-2F43-B6BB-BDF5F54CD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32656"/>
            <a:ext cx="1799768" cy="142922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52227D0-D2EF-474C-9FEF-E3CC49F3AB0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51"/>
          <a:stretch/>
        </p:blipFill>
        <p:spPr>
          <a:xfrm>
            <a:off x="4969281" y="188640"/>
            <a:ext cx="3583702" cy="21651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251520" y="2652163"/>
                <a:ext cx="7380803" cy="17995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𝒘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d>
                            <m:d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d>
                                <m:d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𝑤𝐵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𝑤𝐴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𝑤𝐷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𝑤𝐶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𝑤𝐴</m:t>
                          </m:r>
                        </m:e>
                      </m:d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𝑤𝐵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𝑤𝐴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h𝐶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𝑤h𝐷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𝑤h𝐶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h𝐴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𝑤h𝐵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𝑤h𝐴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𝑤h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𝑤h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𝑤h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𝑤h</m:t>
                          </m:r>
                        </m:e>
                      </m:d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u="sng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u="sng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d>
                        <m:dPr>
                          <m:ctrlP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zh-TW" b="0" i="1" u="sng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u="sng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d>
                        <m:dPr>
                          <m:ctrlP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  <m:t>𝑤h</m:t>
                          </m:r>
                        </m:e>
                      </m:d>
                      <m:r>
                        <a:rPr lang="en-US" altLang="zh-TW" b="0" i="1" u="sng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u="sng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d>
                        <m:dPr>
                          <m:ctrlP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u="sng" smtClean="0">
                              <a:latin typeface="Cambria Math" panose="02040503050406030204" pitchFamily="18" charset="0"/>
                            </a:rPr>
                            <m:t>𝑤h</m:t>
                          </m:r>
                        </m:e>
                      </m:d>
                      <m:r>
                        <a:rPr lang="en-US" altLang="zh-TW" b="0" i="1" u="sng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u="sng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b="0" i="1" u="sng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u="sng" smtClean="0">
                          <a:latin typeface="Cambria Math" panose="02040503050406030204" pitchFamily="18" charset="0"/>
                        </a:rPr>
                        <m:t>𝑤h</m:t>
                      </m:r>
                      <m:r>
                        <a:rPr lang="en-US" altLang="zh-TW" b="0" i="1" u="sng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b="0" i="1" u="sng" dirty="0"/>
              </a:p>
              <a:p>
                <a:r>
                  <a:rPr lang="en-US" altLang="zh-TW" i="1" dirty="0"/>
                  <a:t>    </a:t>
                </a:r>
                <a:endParaRPr lang="zh-TW" altLang="en-US" i="1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652163"/>
                <a:ext cx="7380803" cy="17995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874698"/>
              </p:ext>
            </p:extLst>
          </p:nvPr>
        </p:nvGraphicFramePr>
        <p:xfrm>
          <a:off x="5220072" y="4830233"/>
          <a:ext cx="1872210" cy="193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35">
                  <a:extLst>
                    <a:ext uri="{9D8B030D-6E8A-4147-A177-3AD203B41FA5}">
                      <a16:colId xmlns:a16="http://schemas.microsoft.com/office/drawing/2014/main" val="2016598363"/>
                    </a:ext>
                  </a:extLst>
                </a:gridCol>
                <a:gridCol w="312035">
                  <a:extLst>
                    <a:ext uri="{9D8B030D-6E8A-4147-A177-3AD203B41FA5}">
                      <a16:colId xmlns:a16="http://schemas.microsoft.com/office/drawing/2014/main" val="3989405750"/>
                    </a:ext>
                  </a:extLst>
                </a:gridCol>
                <a:gridCol w="312035">
                  <a:extLst>
                    <a:ext uri="{9D8B030D-6E8A-4147-A177-3AD203B41FA5}">
                      <a16:colId xmlns:a16="http://schemas.microsoft.com/office/drawing/2014/main" val="3663117103"/>
                    </a:ext>
                  </a:extLst>
                </a:gridCol>
                <a:gridCol w="312035">
                  <a:extLst>
                    <a:ext uri="{9D8B030D-6E8A-4147-A177-3AD203B41FA5}">
                      <a16:colId xmlns:a16="http://schemas.microsoft.com/office/drawing/2014/main" val="3627872927"/>
                    </a:ext>
                  </a:extLst>
                </a:gridCol>
                <a:gridCol w="312035">
                  <a:extLst>
                    <a:ext uri="{9D8B030D-6E8A-4147-A177-3AD203B41FA5}">
                      <a16:colId xmlns:a16="http://schemas.microsoft.com/office/drawing/2014/main" val="1617530560"/>
                    </a:ext>
                  </a:extLst>
                </a:gridCol>
                <a:gridCol w="312035">
                  <a:extLst>
                    <a:ext uri="{9D8B030D-6E8A-4147-A177-3AD203B41FA5}">
                      <a16:colId xmlns:a16="http://schemas.microsoft.com/office/drawing/2014/main" val="2679681615"/>
                    </a:ext>
                  </a:extLst>
                </a:gridCol>
              </a:tblGrid>
              <a:tr h="317027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18884"/>
                  </a:ext>
                </a:extLst>
              </a:tr>
              <a:tr h="317027"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338355"/>
                  </a:ext>
                </a:extLst>
              </a:tr>
              <a:tr h="317027"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840890"/>
                  </a:ext>
                </a:extLst>
              </a:tr>
              <a:tr h="317027"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6876"/>
                  </a:ext>
                </a:extLst>
              </a:tr>
              <a:tr h="317027"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731673"/>
                  </a:ext>
                </a:extLst>
              </a:tr>
              <a:tr h="317027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9257" marR="79257" marT="39628" marB="396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585495"/>
                  </a:ext>
                </a:extLst>
              </a:tr>
            </a:tbl>
          </a:graphicData>
        </a:graphic>
      </p:graphicFrame>
      <p:pic>
        <p:nvPicPr>
          <p:cNvPr id="14" name="圖片 13">
            <a:extLst>
              <a:ext uri="{FF2B5EF4-FFF2-40B4-BE49-F238E27FC236}">
                <a16:creationId xmlns:a16="http://schemas.microsoft.com/office/drawing/2014/main" id="{952227D0-D2EF-474C-9FEF-E3CC49F3AB0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51"/>
          <a:stretch/>
        </p:blipFill>
        <p:spPr>
          <a:xfrm>
            <a:off x="611560" y="4692873"/>
            <a:ext cx="3583702" cy="2165127"/>
          </a:xfrm>
          <a:prstGeom prst="rect">
            <a:avLst/>
          </a:prstGeom>
        </p:spPr>
      </p:pic>
      <p:grpSp>
        <p:nvGrpSpPr>
          <p:cNvPr id="29" name="群組 28"/>
          <p:cNvGrpSpPr/>
          <p:nvPr/>
        </p:nvGrpSpPr>
        <p:grpSpPr>
          <a:xfrm>
            <a:off x="5220072" y="4508207"/>
            <a:ext cx="1296144" cy="369332"/>
            <a:chOff x="5220072" y="4508207"/>
            <a:chExt cx="1296144" cy="369332"/>
          </a:xfrm>
        </p:grpSpPr>
        <p:cxnSp>
          <p:nvCxnSpPr>
            <p:cNvPr id="16" name="直線單箭頭接點 15"/>
            <p:cNvCxnSpPr/>
            <p:nvPr/>
          </p:nvCxnSpPr>
          <p:spPr>
            <a:xfrm>
              <a:off x="6012160" y="4725144"/>
              <a:ext cx="5040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/>
            <p:nvPr/>
          </p:nvCxnSpPr>
          <p:spPr>
            <a:xfrm flipH="1">
              <a:off x="5220072" y="4725144"/>
              <a:ext cx="5040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5700987" y="45082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dirty="0"/>
                <a:t>w</a:t>
              </a:r>
              <a:endParaRPr lang="zh-TW" altLang="en-US" i="1" dirty="0"/>
            </a:p>
          </p:txBody>
        </p:sp>
      </p:grpSp>
      <p:grpSp>
        <p:nvGrpSpPr>
          <p:cNvPr id="30" name="群組 29"/>
          <p:cNvGrpSpPr/>
          <p:nvPr/>
        </p:nvGrpSpPr>
        <p:grpSpPr>
          <a:xfrm rot="16200000">
            <a:off x="6632154" y="5281691"/>
            <a:ext cx="1296144" cy="325730"/>
            <a:chOff x="5220072" y="4551190"/>
            <a:chExt cx="1296144" cy="325730"/>
          </a:xfrm>
        </p:grpSpPr>
        <p:cxnSp>
          <p:nvCxnSpPr>
            <p:cNvPr id="31" name="直線單箭頭接點 30"/>
            <p:cNvCxnSpPr/>
            <p:nvPr/>
          </p:nvCxnSpPr>
          <p:spPr>
            <a:xfrm>
              <a:off x="6012160" y="4725144"/>
              <a:ext cx="5040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/>
            <p:nvPr/>
          </p:nvCxnSpPr>
          <p:spPr>
            <a:xfrm flipH="1">
              <a:off x="5220072" y="4725144"/>
              <a:ext cx="5040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 rot="5575832">
              <a:off x="5727883" y="4529389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dirty="0"/>
                <a:t>h</a:t>
              </a:r>
              <a:endParaRPr lang="zh-TW" altLang="en-US" i="1" dirty="0"/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2231032" y="2433748"/>
            <a:ext cx="1296144" cy="369332"/>
            <a:chOff x="5220072" y="4508207"/>
            <a:chExt cx="1296144" cy="369332"/>
          </a:xfrm>
        </p:grpSpPr>
        <p:cxnSp>
          <p:nvCxnSpPr>
            <p:cNvPr id="35" name="直線單箭頭接點 34"/>
            <p:cNvCxnSpPr/>
            <p:nvPr/>
          </p:nvCxnSpPr>
          <p:spPr>
            <a:xfrm>
              <a:off x="6012160" y="4725144"/>
              <a:ext cx="5040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/>
            <p:nvPr/>
          </p:nvCxnSpPr>
          <p:spPr>
            <a:xfrm flipH="1">
              <a:off x="5220072" y="4725144"/>
              <a:ext cx="5040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5688832" y="4508207"/>
              <a:ext cx="2616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i="1" dirty="0"/>
                <a:t>i</a:t>
              </a:r>
              <a:endParaRPr lang="zh-TW" altLang="en-US" i="1" dirty="0"/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4211960" y="2433748"/>
            <a:ext cx="1296144" cy="369332"/>
            <a:chOff x="5220072" y="4508207"/>
            <a:chExt cx="1296144" cy="369332"/>
          </a:xfrm>
        </p:grpSpPr>
        <p:cxnSp>
          <p:nvCxnSpPr>
            <p:cNvPr id="39" name="直線單箭頭接點 38"/>
            <p:cNvCxnSpPr/>
            <p:nvPr/>
          </p:nvCxnSpPr>
          <p:spPr>
            <a:xfrm>
              <a:off x="6012160" y="4725144"/>
              <a:ext cx="5040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/>
            <p:nvPr/>
          </p:nvCxnSpPr>
          <p:spPr>
            <a:xfrm flipH="1">
              <a:off x="5220072" y="4725144"/>
              <a:ext cx="5040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5688832" y="4508207"/>
              <a:ext cx="3209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i="1" dirty="0"/>
                <a:t> j</a:t>
              </a:r>
              <a:endParaRPr lang="zh-TW" altLang="en-US" i="1" dirty="0"/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5922141" y="2436139"/>
            <a:ext cx="1296144" cy="369332"/>
            <a:chOff x="5220072" y="4508207"/>
            <a:chExt cx="1296144" cy="369332"/>
          </a:xfrm>
        </p:grpSpPr>
        <p:cxnSp>
          <p:nvCxnSpPr>
            <p:cNvPr id="43" name="直線單箭頭接點 42"/>
            <p:cNvCxnSpPr/>
            <p:nvPr/>
          </p:nvCxnSpPr>
          <p:spPr>
            <a:xfrm>
              <a:off x="6012160" y="4725144"/>
              <a:ext cx="5040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/>
            <p:cNvCxnSpPr/>
            <p:nvPr/>
          </p:nvCxnSpPr>
          <p:spPr>
            <a:xfrm flipH="1">
              <a:off x="5220072" y="4725144"/>
              <a:ext cx="5040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字方塊 44"/>
            <p:cNvSpPr txBox="1"/>
            <p:nvPr/>
          </p:nvSpPr>
          <p:spPr>
            <a:xfrm>
              <a:off x="5688832" y="4508207"/>
              <a:ext cx="2616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i="1" dirty="0"/>
                <a:t>i</a:t>
              </a:r>
              <a:endParaRPr lang="zh-TW" altLang="en-US" i="1" dirty="0"/>
            </a:p>
          </p:txBody>
        </p:sp>
      </p:grpSp>
      <p:sp>
        <p:nvSpPr>
          <p:cNvPr id="47" name="矩形 46"/>
          <p:cNvSpPr/>
          <p:nvPr/>
        </p:nvSpPr>
        <p:spPr>
          <a:xfrm>
            <a:off x="7122512" y="3693812"/>
            <a:ext cx="18539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i="1" dirty="0"/>
              <a:t>Recall: </a:t>
            </a:r>
          </a:p>
          <a:p>
            <a:r>
              <a:rPr lang="en-US" altLang="zh-TW" i="1" u="sng" dirty="0"/>
              <a:t>Y=A(1-l)+B(l)</a:t>
            </a:r>
            <a:endParaRPr lang="zh-TW" altLang="en-US" i="1" u="sng" dirty="0"/>
          </a:p>
        </p:txBody>
      </p:sp>
    </p:spTree>
    <p:extLst>
      <p:ext uri="{BB962C8B-B14F-4D97-AF65-F5344CB8AC3E}">
        <p14:creationId xmlns:p14="http://schemas.microsoft.com/office/powerpoint/2010/main" val="1631037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空間轉換</a:t>
            </a:r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8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03648" y="1124744"/>
            <a:ext cx="6048672" cy="53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90753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Forward Mapping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70B7430-D1C7-4683-AB27-07761046DF7E}" type="slidenum">
              <a:rPr lang="en-US" smtClean="0"/>
              <a:t>9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1639257" y="1638508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904999" y="163759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173110" y="163759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441220" y="1637591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636888" y="1905704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2441220" y="1905702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1636888" y="2173814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2441220" y="217381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1636888" y="244192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1904999" y="244192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2173110" y="244192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向右箭號 21"/>
          <p:cNvSpPr/>
          <p:nvPr/>
        </p:nvSpPr>
        <p:spPr>
          <a:xfrm>
            <a:off x="3819175" y="1873954"/>
            <a:ext cx="1140178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5712179" y="4896342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6066368" y="4907476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6420556" y="4896341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/>
          <p:cNvSpPr/>
          <p:nvPr/>
        </p:nvSpPr>
        <p:spPr>
          <a:xfrm>
            <a:off x="6774745" y="4896339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/>
          <p:cNvSpPr/>
          <p:nvPr/>
        </p:nvSpPr>
        <p:spPr>
          <a:xfrm>
            <a:off x="5712179" y="5250529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6774744" y="5257589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/>
          <p:cNvSpPr/>
          <p:nvPr/>
        </p:nvSpPr>
        <p:spPr>
          <a:xfrm>
            <a:off x="5722528" y="5604716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/>
        </p:nvSpPr>
        <p:spPr>
          <a:xfrm>
            <a:off x="6774744" y="5604715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/>
        </p:nvSpPr>
        <p:spPr>
          <a:xfrm>
            <a:off x="5716930" y="597616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>
            <a:off x="6066368" y="597616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/>
          <p:cNvSpPr/>
          <p:nvPr/>
        </p:nvSpPr>
        <p:spPr>
          <a:xfrm>
            <a:off x="6438565" y="5968854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向右箭號 55"/>
          <p:cNvSpPr/>
          <p:nvPr/>
        </p:nvSpPr>
        <p:spPr>
          <a:xfrm>
            <a:off x="3819175" y="5299919"/>
            <a:ext cx="1140178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7" name="群組 56"/>
          <p:cNvGrpSpPr/>
          <p:nvPr/>
        </p:nvGrpSpPr>
        <p:grpSpPr>
          <a:xfrm>
            <a:off x="5712180" y="4896342"/>
            <a:ext cx="1416754" cy="1416754"/>
            <a:chOff x="1151467" y="1952977"/>
            <a:chExt cx="587020" cy="587020"/>
          </a:xfrm>
          <a:noFill/>
        </p:grpSpPr>
        <p:sp>
          <p:nvSpPr>
            <p:cNvPr id="58" name="矩形 57"/>
            <p:cNvSpPr/>
            <p:nvPr/>
          </p:nvSpPr>
          <p:spPr>
            <a:xfrm>
              <a:off x="1151467" y="1952978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1298222" y="1952978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1444977" y="1952978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1591732" y="1952977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1151467" y="2099733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1298222" y="2099733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1444977" y="2099733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1591732" y="2099732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1151467" y="2246488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1298222" y="2246488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1444977" y="2246488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1591732" y="2246487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1151467" y="2393242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1298222" y="2393242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1444977" y="2393242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1591732" y="2393241"/>
              <a:ext cx="146755" cy="14675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文字方塊 2"/>
          <p:cNvSpPr txBox="1"/>
          <p:nvPr/>
        </p:nvSpPr>
        <p:spPr>
          <a:xfrm>
            <a:off x="1536164" y="3020702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(1,1) -&gt; (100,100)</a:t>
            </a:r>
          </a:p>
        </p:txBody>
      </p:sp>
      <p:sp>
        <p:nvSpPr>
          <p:cNvPr id="74" name="文字方塊 73"/>
          <p:cNvSpPr txBox="1"/>
          <p:nvPr/>
        </p:nvSpPr>
        <p:spPr>
          <a:xfrm>
            <a:off x="1536163" y="3383519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(1,2) -&gt; (100,200)</a:t>
            </a:r>
          </a:p>
        </p:txBody>
      </p:sp>
      <p:sp>
        <p:nvSpPr>
          <p:cNvPr id="75" name="文字方塊 74"/>
          <p:cNvSpPr txBox="1"/>
          <p:nvPr/>
        </p:nvSpPr>
        <p:spPr>
          <a:xfrm>
            <a:off x="1536162" y="3768846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(1,3) -&gt; (100,300)</a:t>
            </a:r>
          </a:p>
        </p:txBody>
      </p:sp>
      <p:sp>
        <p:nvSpPr>
          <p:cNvPr id="76" name="文字方塊 75"/>
          <p:cNvSpPr txBox="1"/>
          <p:nvPr/>
        </p:nvSpPr>
        <p:spPr>
          <a:xfrm>
            <a:off x="1551288" y="4342070"/>
            <a:ext cx="1810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…</a:t>
            </a:r>
          </a:p>
          <a:p>
            <a:r>
              <a:rPr lang="en-US" altLang="zh-TW" dirty="0"/>
              <a:t>(4,4) -&gt; (400,400)</a:t>
            </a:r>
          </a:p>
        </p:txBody>
      </p:sp>
      <p:sp>
        <p:nvSpPr>
          <p:cNvPr id="21" name="文字方塊 20"/>
          <p:cNvSpPr txBox="1"/>
          <p:nvPr/>
        </p:nvSpPr>
        <p:spPr>
          <a:xfrm>
            <a:off x="7128934" y="5968854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好多地方空下來</a:t>
            </a:r>
            <a:r>
              <a:rPr lang="en-US" altLang="zh-TW" dirty="0"/>
              <a:t>…</a:t>
            </a:r>
            <a:endParaRPr lang="zh-TW" altLang="en-US" dirty="0"/>
          </a:p>
        </p:txBody>
      </p:sp>
      <p:grpSp>
        <p:nvGrpSpPr>
          <p:cNvPr id="128" name="群組 127"/>
          <p:cNvGrpSpPr/>
          <p:nvPr/>
        </p:nvGrpSpPr>
        <p:grpSpPr>
          <a:xfrm>
            <a:off x="5691588" y="1459476"/>
            <a:ext cx="1472566" cy="1472563"/>
            <a:chOff x="5864580" y="1622777"/>
            <a:chExt cx="2833509" cy="2833503"/>
          </a:xfrm>
        </p:grpSpPr>
        <p:grpSp>
          <p:nvGrpSpPr>
            <p:cNvPr id="23" name="群組 22"/>
            <p:cNvGrpSpPr/>
            <p:nvPr/>
          </p:nvGrpSpPr>
          <p:grpSpPr>
            <a:xfrm>
              <a:off x="7281335" y="1622777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24" name="矩形 23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77" name="群組 76"/>
            <p:cNvGrpSpPr/>
            <p:nvPr/>
          </p:nvGrpSpPr>
          <p:grpSpPr>
            <a:xfrm>
              <a:off x="5864580" y="1622777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78" name="矩形 77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281335" y="3039526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95" name="矩形 94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7" name="矩形 96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8" name="矩形 97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矩形 98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矩形 99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1" name="矩形 100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1" name="群組 110"/>
            <p:cNvGrpSpPr/>
            <p:nvPr/>
          </p:nvGrpSpPr>
          <p:grpSpPr>
            <a:xfrm>
              <a:off x="5864580" y="3039526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112" name="矩形 111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7" name="矩形 126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29" name="矩形 128"/>
          <p:cNvSpPr/>
          <p:nvPr/>
        </p:nvSpPr>
        <p:spPr>
          <a:xfrm>
            <a:off x="1904999" y="1905704"/>
            <a:ext cx="268111" cy="26811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矩形 129"/>
          <p:cNvSpPr/>
          <p:nvPr/>
        </p:nvSpPr>
        <p:spPr>
          <a:xfrm>
            <a:off x="2173110" y="1905704"/>
            <a:ext cx="268111" cy="26811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矩形 130"/>
          <p:cNvSpPr/>
          <p:nvPr/>
        </p:nvSpPr>
        <p:spPr>
          <a:xfrm>
            <a:off x="1904999" y="2173814"/>
            <a:ext cx="268111" cy="26811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矩形 131"/>
          <p:cNvSpPr/>
          <p:nvPr/>
        </p:nvSpPr>
        <p:spPr>
          <a:xfrm>
            <a:off x="2173110" y="2173814"/>
            <a:ext cx="268111" cy="2681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矩形 132"/>
          <p:cNvSpPr/>
          <p:nvPr/>
        </p:nvSpPr>
        <p:spPr>
          <a:xfrm>
            <a:off x="2441220" y="2441921"/>
            <a:ext cx="268111" cy="26811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矩形 133"/>
          <p:cNvSpPr/>
          <p:nvPr/>
        </p:nvSpPr>
        <p:spPr>
          <a:xfrm>
            <a:off x="6066365" y="5257588"/>
            <a:ext cx="268111" cy="26811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矩形 134"/>
          <p:cNvSpPr/>
          <p:nvPr/>
        </p:nvSpPr>
        <p:spPr>
          <a:xfrm>
            <a:off x="6435866" y="5245800"/>
            <a:ext cx="268111" cy="26811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矩形 135"/>
          <p:cNvSpPr/>
          <p:nvPr/>
        </p:nvSpPr>
        <p:spPr>
          <a:xfrm>
            <a:off x="6073822" y="5611774"/>
            <a:ext cx="268111" cy="26811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矩形 136"/>
          <p:cNvSpPr/>
          <p:nvPr/>
        </p:nvSpPr>
        <p:spPr>
          <a:xfrm>
            <a:off x="6420553" y="5611774"/>
            <a:ext cx="268111" cy="2681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矩形 137"/>
          <p:cNvSpPr/>
          <p:nvPr/>
        </p:nvSpPr>
        <p:spPr>
          <a:xfrm>
            <a:off x="6774743" y="5976163"/>
            <a:ext cx="268111" cy="26811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38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5 0.0044 L 0.00105 0.00463 C 0.0033 0.00324 0.00573 0.00232 0.00816 0.00116 C 0.00921 0.00047 0.01025 -0.00069 0.01129 -0.00092 C 0.01389 -0.00208 0.01667 -0.00231 0.01927 -0.00324 C 0.02118 -0.0037 0.02309 -0.00486 0.025 -0.00532 C 0.02709 -0.00578 0.02917 -0.00602 0.03143 -0.00625 C 0.04792 -0.00926 0.025 -0.00532 0.04341 -0.00856 C 0.04601 -0.00949 0.04861 -0.01088 0.05139 -0.01157 C 0.05348 -0.01227 0.05556 -0.01227 0.05782 -0.01273 C 0.06025 -0.01342 0.0625 -0.01435 0.06493 -0.01481 C 0.06702 -0.01527 0.06927 -0.01551 0.07136 -0.01597 L 0.07691 -0.01689 C 0.08907 -0.02245 0.07379 -0.01597 0.08733 -0.02014 C 0.09028 -0.02106 0.09514 -0.02384 0.09775 -0.02546 C 0.09879 -0.02615 0.09983 -0.02708 0.10087 -0.02754 C 0.1033 -0.0287 0.10573 -0.02916 0.10816 -0.02986 C 0.10921 -0.03055 0.11025 -0.03148 0.11129 -0.03194 C 0.12084 -0.03564 0.11146 -0.02986 0.12101 -0.03518 C 0.12257 -0.03611 0.12414 -0.0375 0.1257 -0.03819 C 0.12674 -0.03889 0.12796 -0.03889 0.129 -0.03935 C 0.13143 -0.04027 0.13386 -0.04097 0.13611 -0.04259 C 0.13716 -0.04328 0.1382 -0.04421 0.13941 -0.04467 C 0.14115 -0.04537 0.14306 -0.04537 0.14497 -0.04583 C 0.1474 -0.04676 0.14983 -0.04768 0.15209 -0.04884 C 0.1533 -0.04953 0.15417 -0.05046 0.15539 -0.05115 C 0.1566 -0.05162 0.15799 -0.05162 0.15938 -0.05208 C 0.16181 -0.05301 0.16546 -0.05463 0.16806 -0.05532 C 0.1724 -0.05648 0.17674 -0.05717 0.18091 -0.05856 C 0.18195 -0.05879 0.18299 -0.05926 0.18421 -0.05949 C 0.18577 -0.06018 0.18733 -0.06111 0.18889 -0.0618 C 0.1915 -0.0625 0.19427 -0.06296 0.19688 -0.06389 C 0.19792 -0.06412 0.19896 -0.06458 0.20018 -0.06481 C 0.20313 -0.06551 0.20591 -0.06574 0.20886 -0.06597 C 0.22778 -0.06805 0.21841 -0.06666 0.24566 -0.06805 L 0.27778 -0.07014 L 0.33125 -0.07222 L 0.37448 -0.07129 C 0.37587 -0.07129 0.38021 -0.06967 0.38177 -0.06921 C 0.38299 -0.06875 0.38421 -0.06852 0.38577 -0.06805 C 0.39549 -0.06481 0.37726 -0.0699 0.39184 -0.06597 C 0.39254 -0.06527 0.39306 -0.06435 0.39375 -0.06389 C 0.39514 -0.06273 0.39844 -0.0618 0.39844 -0.06157 C 0.39931 -0.06088 0.39983 -0.06018 0.40087 -0.05949 C 0.40157 -0.05902 0.40261 -0.05926 0.4033 -0.05856 C 0.40452 -0.0574 0.40521 -0.05509 0.40643 -0.05416 C 0.41042 -0.05162 0.40851 -0.05254 0.41216 -0.05115 C 0.41285 -0.05023 0.41355 -0.04953 0.41441 -0.04884 C 0.41528 -0.04838 0.41615 -0.04838 0.41684 -0.04791 C 0.42327 -0.04305 0.41684 -0.04583 0.42327 -0.04352 C 0.42622 -0.03958 0.42414 -0.04213 0.42969 -0.03727 C 0.43056 -0.03657 0.43125 -0.03564 0.43212 -0.03518 C 0.43316 -0.03449 0.43421 -0.03379 0.43525 -0.03287 C 0.43941 -0.02963 0.43577 -0.03217 0.43924 -0.0287 C 0.44011 -0.02801 0.4408 -0.02708 0.44167 -0.02662 C 0.44236 -0.02615 0.44341 -0.02615 0.4441 -0.02546 C 0.44445 -0.025 0.44445 -0.02407 0.4448 -0.02338 " pathEditMode="relative" rAng="0" ptsTypes="AAAAAAAAAAAAAAAAAAAAAAAAAAAAAAAAAAAAAAAAAAAAAAAAAAAAAAA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87" y="-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L 0.00954 -0.00324 C 0.01145 -0.00394 0.01319 -0.00487 0.0151 -0.00556 C 0.01857 -0.00649 0.02204 -0.00672 0.02552 -0.00764 C 0.02882 -0.00857 0.03194 -0.00973 0.03507 -0.01088 C 0.0401 -0.01227 0.04513 -0.01389 0.05034 -0.01505 C 0.05503 -0.01621 0.05989 -0.01737 0.06475 -0.01829 C 0.06944 -0.01922 0.0743 -0.01922 0.07916 -0.02037 C 0.08871 -0.02292 0.09826 -0.02662 0.10798 -0.02894 C 0.11406 -0.03033 0.12013 -0.03195 0.12638 -0.03334 C 0.12899 -0.0338 0.13159 -0.0338 0.13437 -0.03426 C 0.13836 -0.03496 0.14236 -0.03588 0.14635 -0.03658 C 0.15156 -0.03727 0.16232 -0.03866 0.16232 -0.03866 C 0.16527 -0.03959 0.16805 -0.04098 0.17118 -0.0419 C 0.17326 -0.04237 0.17534 -0.04213 0.17743 -0.04283 C 0.19427 -0.04815 0.17465 -0.04468 0.1927 -0.04723 C 0.21041 -0.05255 0.20225 -0.05093 0.21753 -0.05255 C 0.22204 -0.05394 0.22656 -0.05579 0.23107 -0.05672 C 0.23611 -0.05787 0.24114 -0.05926 0.24635 -0.05996 C 0.24895 -0.06042 0.25173 -0.06065 0.25434 -0.06112 C 0.25573 -0.06135 0.25694 -0.06181 0.25833 -0.06204 L 0.26788 -0.06436 C 0.26927 -0.06459 0.27048 -0.06505 0.27187 -0.06528 C 0.27586 -0.06574 0.27986 -0.06598 0.28385 -0.06644 C 0.29965 -0.06991 0.27517 -0.06436 0.29513 -0.06968 C 0.29687 -0.07014 0.29878 -0.07014 0.30069 -0.07061 C 0.31059 -0.07292 0.29687 -0.07061 0.31267 -0.07269 C 0.34635 -0.07084 0.31996 -0.07454 0.33836 -0.06852 L 0.34791 -0.06528 C 0.34878 -0.06459 0.34948 -0.06366 0.35034 -0.0632 C 0.35729 -0.05973 0.35138 -0.06528 0.35902 -0.05996 C 0.36076 -0.0588 0.36232 -0.05764 0.36388 -0.05672 C 0.36632 -0.05556 0.36875 -0.05463 0.37118 -0.05348 C 0.37187 -0.05324 0.37274 -0.05301 0.37343 -0.05255 C 0.3776 -0.04977 0.37552 -0.0507 0.37986 -0.04931 C 0.3809 -0.04815 0.38194 -0.04699 0.38316 -0.04607 C 0.38385 -0.04561 0.38472 -0.04537 0.38559 -0.04491 C 0.39149 -0.0426 0.38993 -0.04329 0.39513 -0.0419 C 0.40121 -0.03635 0.3934 -0.04283 0.40069 -0.03866 C 0.40156 -0.0382 0.40225 -0.03704 0.40312 -0.03658 C 0.40468 -0.03565 0.40625 -0.03496 0.40798 -0.03426 C 0.40868 -0.03403 0.40954 -0.03357 0.41024 -0.03334 C 0.4125 -0.03264 0.41458 -0.03195 0.41666 -0.03102 L 0.42152 -0.02894 L 0.43107 -0.02477 L 0.4335 -0.02362 L 0.43593 -0.02246 C 0.43663 -0.02176 0.4375 -0.02084 0.43836 -0.02037 C 0.4427 -0.01783 0.44288 -0.01875 0.44704 -0.01713 C 0.44791 -0.0169 0.44878 -0.01644 0.44948 -0.01621 C 0.45729 -0.01737 0.4559 -0.01436 0.4559 -0.02246 " pathEditMode="relative" ptsTypes="AAAAAAAAAAAAAAAAAAAAAAAAAAAAAAAAAAAAAAAAAAAAAAAAAA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532 L -0.00417 -0.00509 C 0.00121 -0.00486 0.01111 -0.00324 0.01736 -0.00532 C 0.04132 -0.01389 0.00139 -0.00648 0.04218 -0.0118 C 0.04635 -0.01319 0.05069 -0.01504 0.05486 -0.01597 C 0.08715 -0.02338 0.03281 -0.00532 0.08541 -0.02129 C 0.1158 -0.03055 0.08507 -0.02662 0.11649 -0.02893 L 0.13975 -0.03426 C 0.14218 -0.03472 0.14444 -0.03588 0.14687 -0.03634 C 0.15139 -0.03727 0.15607 -0.03773 0.16059 -0.03842 C 0.16354 -0.04027 0.16632 -0.04236 0.16927 -0.04375 C 0.17222 -0.0449 0.17517 -0.0449 0.17812 -0.04583 C 0.17986 -0.04629 0.18125 -0.04745 0.18298 -0.04791 C 0.18472 -0.04884 0.18663 -0.0493 0.18854 -0.05023 C 0.19965 -0.05463 0.18698 -0.04953 0.19809 -0.05555 C 0.19913 -0.05602 0.20034 -0.05625 0.20139 -0.05648 C 0.20538 -0.0581 0.20764 -0.05972 0.2118 -0.06088 C 0.21354 -0.06134 0.21545 -0.06157 0.21736 -0.0618 C 0.22048 -0.06365 0.22361 -0.0662 0.22691 -0.06713 C 0.22795 -0.06759 0.22899 -0.06805 0.23021 -0.06828 C 0.23281 -0.06898 0.23559 -0.06921 0.23819 -0.07037 C 0.24236 -0.07222 0.23871 -0.07083 0.24462 -0.07245 C 0.24566 -0.07291 0.2467 -0.07361 0.24774 -0.07361 C 0.25625 -0.0743 0.26475 -0.0743 0.27326 -0.07477 C 0.27795 -0.075 0.28246 -0.07546 0.28698 -0.07569 L 0.32934 -0.07777 C 0.33871 -0.07754 0.34809 -0.07754 0.35729 -0.07685 C 0.35816 -0.07685 0.35885 -0.07615 0.35972 -0.07569 C 0.36076 -0.07546 0.3618 -0.075 0.36302 -0.07477 C 0.3651 -0.0743 0.36718 -0.07407 0.36927 -0.07361 C 0.37482 -0.0699 0.37048 -0.07222 0.37812 -0.07037 C 0.38177 -0.06944 0.38159 -0.06898 0.38541 -0.06713 C 0.38698 -0.06643 0.38871 -0.06643 0.3901 -0.06504 C 0.39097 -0.06435 0.39166 -0.06342 0.39253 -0.06296 C 0.39409 -0.06203 0.39739 -0.06088 0.39739 -0.06064 C 0.39843 -0.05972 0.3993 -0.05833 0.40052 -0.05764 C 0.40208 -0.05671 0.40399 -0.05671 0.40538 -0.05555 C 0.4085 -0.05277 0.40677 -0.0537 0.41007 -0.05231 C 0.41059 -0.05162 0.41111 -0.05069 0.4118 -0.05023 C 0.41371 -0.04838 0.41527 -0.04791 0.41736 -0.04699 C 0.41805 -0.04629 0.41892 -0.04537 0.41979 -0.0449 C 0.42048 -0.04421 0.42135 -0.04444 0.42205 -0.04375 C 0.4276 -0.03935 0.41927 -0.04352 0.42621 -0.04051 C 0.42691 -0.03981 0.4276 -0.03889 0.42847 -0.03842 C 0.43003 -0.0375 0.43333 -0.03634 0.43333 -0.03611 C 0.43472 -0.03449 0.43559 -0.0331 0.43732 -0.03194 C 0.43889 -0.03102 0.44045 -0.03055 0.44218 -0.02986 L 0.44462 -0.02893 L 0.44687 -0.02777 C 0.44739 -0.02708 0.44791 -0.02615 0.44861 -0.02569 C 0.44982 -0.02477 0.45573 -0.02361 0.45659 -0.02338 C 0.46198 -0.02176 0.45521 -0.02245 0.46302 -0.02245 " pathEditMode="relative" rAng="0" ptsTypes="AAAAAAAAAAAAAAAAAAAAAAAAAAAAAAAAAAAAAAAAAAAAAAAAAAAA"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51" y="-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7" grpId="0" animBg="1"/>
      <p:bldP spid="48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3" grpId="0"/>
      <p:bldP spid="74" grpId="0"/>
      <p:bldP spid="75" grpId="0"/>
      <p:bldP spid="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Inverse Mapping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70B7430-D1C7-4683-AB27-07761046DF7E}" type="slidenum">
              <a:rPr lang="en-US" smtClean="0"/>
              <a:t>10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1639257" y="1638508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904999" y="163759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173110" y="163759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441220" y="1637591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636888" y="1905704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904999" y="1905704"/>
            <a:ext cx="268111" cy="26811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2173110" y="1905704"/>
            <a:ext cx="268111" cy="26811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2441220" y="1905702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1636888" y="2173814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1904999" y="2173814"/>
            <a:ext cx="268111" cy="26811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2173110" y="2173814"/>
            <a:ext cx="268111" cy="26811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2441220" y="217381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1636888" y="244192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1904999" y="244192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2173110" y="2441923"/>
            <a:ext cx="268111" cy="268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2441220" y="2441921"/>
            <a:ext cx="268111" cy="26811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向右箭號 21"/>
          <p:cNvSpPr/>
          <p:nvPr/>
        </p:nvSpPr>
        <p:spPr>
          <a:xfrm>
            <a:off x="3819175" y="1873954"/>
            <a:ext cx="1140178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向右箭號 55"/>
          <p:cNvSpPr/>
          <p:nvPr/>
        </p:nvSpPr>
        <p:spPr>
          <a:xfrm>
            <a:off x="3819175" y="5299919"/>
            <a:ext cx="1140178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4" name="群組 73"/>
          <p:cNvGrpSpPr/>
          <p:nvPr/>
        </p:nvGrpSpPr>
        <p:grpSpPr>
          <a:xfrm>
            <a:off x="5691588" y="1459476"/>
            <a:ext cx="1472566" cy="1472563"/>
            <a:chOff x="5864580" y="1622777"/>
            <a:chExt cx="2833509" cy="2833503"/>
          </a:xfrm>
        </p:grpSpPr>
        <p:grpSp>
          <p:nvGrpSpPr>
            <p:cNvPr id="75" name="群組 74"/>
            <p:cNvGrpSpPr/>
            <p:nvPr/>
          </p:nvGrpSpPr>
          <p:grpSpPr>
            <a:xfrm>
              <a:off x="7281335" y="1622777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127" name="矩形 126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8" name="矩形 127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9" name="矩形 128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3" name="矩形 132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4" name="矩形 133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5" name="矩形 134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7" name="矩形 136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8" name="矩形 137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9" name="矩形 138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0" name="矩形 139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1" name="矩形 140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2" name="矩形 141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76" name="群組 75"/>
            <p:cNvGrpSpPr/>
            <p:nvPr/>
          </p:nvGrpSpPr>
          <p:grpSpPr>
            <a:xfrm>
              <a:off x="5864580" y="1622777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111" name="矩形 110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77" name="群組 76"/>
            <p:cNvGrpSpPr/>
            <p:nvPr/>
          </p:nvGrpSpPr>
          <p:grpSpPr>
            <a:xfrm>
              <a:off x="7281335" y="3039526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95" name="矩形 94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7" name="矩形 96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8" name="矩形 97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矩形 98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矩形 99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1" name="矩形 100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78" name="群組 77"/>
            <p:cNvGrpSpPr/>
            <p:nvPr/>
          </p:nvGrpSpPr>
          <p:grpSpPr>
            <a:xfrm>
              <a:off x="5864580" y="3039526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79" name="矩形 78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43" name="文字方塊 142"/>
          <p:cNvSpPr txBox="1"/>
          <p:nvPr/>
        </p:nvSpPr>
        <p:spPr>
          <a:xfrm>
            <a:off x="5581469" y="2984126"/>
            <a:ext cx="304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(1,1) &lt;- (100,100)  </a:t>
            </a:r>
            <a:r>
              <a:rPr lang="zh-TW" altLang="en-US" dirty="0"/>
              <a:t>去</a:t>
            </a:r>
            <a:r>
              <a:rPr lang="en-US" altLang="zh-TW" dirty="0"/>
              <a:t>(1,1)</a:t>
            </a:r>
            <a:r>
              <a:rPr lang="zh-TW" altLang="en-US" dirty="0"/>
              <a:t>取值</a:t>
            </a:r>
            <a:endParaRPr lang="en-US" altLang="zh-TW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5581468" y="3346943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(1,1.01) &lt;- (100,101)  </a:t>
            </a:r>
            <a:r>
              <a:rPr lang="zh-TW" altLang="en-US" dirty="0"/>
              <a:t>去</a:t>
            </a:r>
            <a:r>
              <a:rPr lang="en-US" altLang="zh-TW" dirty="0"/>
              <a:t>(1,1)</a:t>
            </a:r>
            <a:r>
              <a:rPr lang="zh-TW" altLang="en-US" dirty="0"/>
              <a:t>取值</a:t>
            </a:r>
            <a:endParaRPr lang="en-US" altLang="zh-TW" dirty="0"/>
          </a:p>
        </p:txBody>
      </p:sp>
      <p:sp>
        <p:nvSpPr>
          <p:cNvPr id="145" name="文字方塊 144"/>
          <p:cNvSpPr txBox="1"/>
          <p:nvPr/>
        </p:nvSpPr>
        <p:spPr>
          <a:xfrm>
            <a:off x="5581467" y="3732270"/>
            <a:ext cx="333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(1,1.02) &lt;- (100,102)  </a:t>
            </a:r>
            <a:r>
              <a:rPr lang="zh-TW" altLang="en-US" dirty="0"/>
              <a:t>去</a:t>
            </a:r>
            <a:r>
              <a:rPr lang="en-US" altLang="zh-TW" dirty="0"/>
              <a:t>(1,1)</a:t>
            </a:r>
            <a:r>
              <a:rPr lang="zh-TW" altLang="en-US" dirty="0"/>
              <a:t>取值</a:t>
            </a:r>
            <a:endParaRPr lang="en-US" altLang="zh-TW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5596593" y="4305494"/>
            <a:ext cx="3199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…</a:t>
            </a:r>
          </a:p>
          <a:p>
            <a:r>
              <a:rPr lang="en-US" altLang="zh-TW" dirty="0"/>
              <a:t>(4,4) &lt;- (499,499)     </a:t>
            </a:r>
            <a:r>
              <a:rPr lang="zh-TW" altLang="en-US" dirty="0"/>
              <a:t>去</a:t>
            </a:r>
            <a:r>
              <a:rPr lang="en-US" altLang="zh-TW" dirty="0"/>
              <a:t>(4,4)</a:t>
            </a:r>
            <a:r>
              <a:rPr lang="zh-TW" altLang="en-US" dirty="0"/>
              <a:t>取值</a:t>
            </a:r>
            <a:endParaRPr lang="en-US" altLang="zh-TW" dirty="0"/>
          </a:p>
        </p:txBody>
      </p:sp>
      <p:grpSp>
        <p:nvGrpSpPr>
          <p:cNvPr id="147" name="群組 146"/>
          <p:cNvGrpSpPr/>
          <p:nvPr/>
        </p:nvGrpSpPr>
        <p:grpSpPr>
          <a:xfrm>
            <a:off x="5691588" y="5115037"/>
            <a:ext cx="1472566" cy="1472563"/>
            <a:chOff x="5864580" y="1622777"/>
            <a:chExt cx="2833509" cy="2833503"/>
          </a:xfrm>
        </p:grpSpPr>
        <p:grpSp>
          <p:nvGrpSpPr>
            <p:cNvPr id="148" name="群組 147"/>
            <p:cNvGrpSpPr/>
            <p:nvPr/>
          </p:nvGrpSpPr>
          <p:grpSpPr>
            <a:xfrm>
              <a:off x="7281335" y="1622777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200" name="矩形 199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6" name="矩形 205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0" name="矩形 209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4" name="矩形 213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5" name="矩形 214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49" name="群組 148"/>
            <p:cNvGrpSpPr/>
            <p:nvPr/>
          </p:nvGrpSpPr>
          <p:grpSpPr>
            <a:xfrm>
              <a:off x="5864580" y="1622777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184" name="矩形 183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9" name="矩形 188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5" name="矩形 194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50" name="群組 149"/>
            <p:cNvGrpSpPr/>
            <p:nvPr/>
          </p:nvGrpSpPr>
          <p:grpSpPr>
            <a:xfrm>
              <a:off x="7281335" y="3039526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168" name="矩形 167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2" name="矩形 181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3" name="矩形 182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51" name="群組 150"/>
            <p:cNvGrpSpPr/>
            <p:nvPr/>
          </p:nvGrpSpPr>
          <p:grpSpPr>
            <a:xfrm>
              <a:off x="5864580" y="3039526"/>
              <a:ext cx="1416754" cy="1416754"/>
              <a:chOff x="1151467" y="1952977"/>
              <a:chExt cx="587020" cy="587020"/>
            </a:xfrm>
            <a:noFill/>
          </p:grpSpPr>
          <p:sp>
            <p:nvSpPr>
              <p:cNvPr id="152" name="矩形 151"/>
              <p:cNvSpPr/>
              <p:nvPr/>
            </p:nvSpPr>
            <p:spPr>
              <a:xfrm>
                <a:off x="1151467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3" name="矩形 152"/>
              <p:cNvSpPr/>
              <p:nvPr/>
            </p:nvSpPr>
            <p:spPr>
              <a:xfrm>
                <a:off x="1298222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4" name="矩形 153"/>
              <p:cNvSpPr/>
              <p:nvPr/>
            </p:nvSpPr>
            <p:spPr>
              <a:xfrm>
                <a:off x="1444977" y="195297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5" name="矩形 154"/>
              <p:cNvSpPr/>
              <p:nvPr/>
            </p:nvSpPr>
            <p:spPr>
              <a:xfrm>
                <a:off x="1591732" y="1952977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6" name="矩形 155"/>
              <p:cNvSpPr/>
              <p:nvPr/>
            </p:nvSpPr>
            <p:spPr>
              <a:xfrm>
                <a:off x="1151467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7" name="矩形 156"/>
              <p:cNvSpPr/>
              <p:nvPr/>
            </p:nvSpPr>
            <p:spPr>
              <a:xfrm>
                <a:off x="1298222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8" name="矩形 157"/>
              <p:cNvSpPr/>
              <p:nvPr/>
            </p:nvSpPr>
            <p:spPr>
              <a:xfrm>
                <a:off x="1444977" y="2099733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9" name="矩形 158"/>
              <p:cNvSpPr/>
              <p:nvPr/>
            </p:nvSpPr>
            <p:spPr>
              <a:xfrm>
                <a:off x="1591732" y="209973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0" name="矩形 159"/>
              <p:cNvSpPr/>
              <p:nvPr/>
            </p:nvSpPr>
            <p:spPr>
              <a:xfrm>
                <a:off x="1151467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1" name="矩形 160"/>
              <p:cNvSpPr/>
              <p:nvPr/>
            </p:nvSpPr>
            <p:spPr>
              <a:xfrm>
                <a:off x="1298222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2" name="矩形 161"/>
              <p:cNvSpPr/>
              <p:nvPr/>
            </p:nvSpPr>
            <p:spPr>
              <a:xfrm>
                <a:off x="1444977" y="2246488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3" name="矩形 162"/>
              <p:cNvSpPr/>
              <p:nvPr/>
            </p:nvSpPr>
            <p:spPr>
              <a:xfrm>
                <a:off x="1591732" y="2246487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4" name="矩形 163"/>
              <p:cNvSpPr/>
              <p:nvPr/>
            </p:nvSpPr>
            <p:spPr>
              <a:xfrm>
                <a:off x="1151467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5" name="矩形 164"/>
              <p:cNvSpPr/>
              <p:nvPr/>
            </p:nvSpPr>
            <p:spPr>
              <a:xfrm>
                <a:off x="1298222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6" name="矩形 165"/>
              <p:cNvSpPr/>
              <p:nvPr/>
            </p:nvSpPr>
            <p:spPr>
              <a:xfrm>
                <a:off x="1444977" y="2393242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7" name="矩形 166"/>
              <p:cNvSpPr/>
              <p:nvPr/>
            </p:nvSpPr>
            <p:spPr>
              <a:xfrm>
                <a:off x="1591732" y="2393241"/>
                <a:ext cx="146755" cy="1467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831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  <p:bldP spid="144" grpId="0"/>
      <p:bldP spid="145" grpId="0"/>
      <p:bldP spid="1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Performing an Image Warp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Source scanning (forward mapping)</a:t>
            </a:r>
          </a:p>
          <a:p>
            <a:pPr marL="457200" lvl="1" indent="0">
              <a:buNone/>
            </a:pPr>
            <a:r>
              <a:rPr lang="en-US" altLang="zh-TW" b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For v = </a:t>
            </a:r>
            <a:r>
              <a:rPr lang="en-US" altLang="zh-TW" b="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vmin</a:t>
            </a:r>
            <a:r>
              <a:rPr lang="en-US" altLang="zh-TW" b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to </a:t>
            </a:r>
            <a:r>
              <a:rPr lang="en-US" altLang="zh-TW" b="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vmax</a:t>
            </a:r>
            <a:endParaRPr lang="en-US" altLang="zh-TW" b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lvl="2" indent="0">
              <a:buNone/>
            </a:pP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 u = 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umin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to 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umax</a:t>
            </a:r>
            <a:endParaRPr lang="en-US" altLang="zh-TW" sz="2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371600" lvl="3" indent="0">
              <a:buNone/>
            </a:pP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 = x(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u,v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1371600" lvl="3" indent="0">
              <a:buNone/>
            </a:pP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 = y(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u,v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1371600" lvl="3" indent="0">
              <a:buNone/>
            </a:pP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Copy pixel at source[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u,v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 to 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dest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x,y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Destination scanning (Inverse mapping)</a:t>
            </a:r>
          </a:p>
          <a:p>
            <a:pPr marL="457200" lvl="1" indent="0">
              <a:buNone/>
            </a:pPr>
            <a:r>
              <a:rPr lang="en-US" altLang="zh-TW" b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For y = </a:t>
            </a:r>
            <a:r>
              <a:rPr lang="en-US" altLang="zh-TW" b="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ymin</a:t>
            </a:r>
            <a:r>
              <a:rPr lang="en-US" altLang="zh-TW" b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to </a:t>
            </a:r>
            <a:r>
              <a:rPr lang="en-US" altLang="zh-TW" b="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ymax</a:t>
            </a:r>
            <a:endParaRPr lang="en-US" altLang="zh-TW" b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lvl="2" indent="0">
              <a:buNone/>
            </a:pP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 x = 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xmin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to 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xmax</a:t>
            </a:r>
            <a:endParaRPr lang="en-US" altLang="zh-TW" sz="2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371600" lvl="3" indent="0">
              <a:buNone/>
            </a:pP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 = u(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u,v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1371600" lvl="3" indent="0">
              <a:buNone/>
            </a:pP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 = v(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u,v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1371600" lvl="3" indent="0">
              <a:buNone/>
            </a:pP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Copy pixel at source[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u,v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 to 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dest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en-US" altLang="zh-TW" sz="24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x,y</a:t>
            </a:r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endParaRPr lang="zh-TW" altLang="en-US" sz="2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65F330B1-0F56-467B-9C0A-23CB41B26BFA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251621" y="5152768"/>
            <a:ext cx="3655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What is the difference?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24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仿射轉換</a:t>
            </a:r>
            <a:r>
              <a:rPr lang="en-US" altLang="zh-TW" dirty="0"/>
              <a:t>(Affine Transform)</a:t>
            </a:r>
            <a:endParaRPr lang="zh-TW" altLang="en-US" dirty="0"/>
          </a:p>
        </p:txBody>
      </p:sp>
      <p:pic>
        <p:nvPicPr>
          <p:cNvPr id="5" name="Picture 2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608" y="1628800"/>
            <a:ext cx="6696744" cy="4009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09031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仿射轉換</a:t>
            </a:r>
            <a:r>
              <a:rPr lang="en-US" altLang="zh-TW" dirty="0"/>
              <a:t>(Affine Transform)</a:t>
            </a:r>
            <a:endParaRPr lang="zh-TW" altLang="en-US" dirty="0"/>
          </a:p>
        </p:txBody>
      </p:sp>
      <p:pic>
        <p:nvPicPr>
          <p:cNvPr id="47105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628800"/>
            <a:ext cx="6408712" cy="3747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969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CD6DB0-3FA4-4485-A2BD-C8E34E59B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4ECD08-2973-4491-90DA-F5D32C01CD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1782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壁窗">
  <a:themeElements>
    <a:clrScheme name="壁窗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壁窗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壁窗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199</TotalTime>
  <Words>679</Words>
  <Application>Microsoft Office PowerPoint</Application>
  <PresentationFormat>如螢幕大小 (4:3)</PresentationFormat>
  <Paragraphs>98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微軟正黑體</vt:lpstr>
      <vt:lpstr>Calibri</vt:lpstr>
      <vt:lpstr>Cambria Math</vt:lpstr>
      <vt:lpstr>Century Schoolbook</vt:lpstr>
      <vt:lpstr>Wingdings</vt:lpstr>
      <vt:lpstr>Wingdings 2</vt:lpstr>
      <vt:lpstr>壁窗</vt:lpstr>
      <vt:lpstr>HW 2   (Due :10/19)</vt:lpstr>
      <vt:lpstr>要求</vt:lpstr>
      <vt:lpstr>限制/評分標準</vt:lpstr>
      <vt:lpstr>繳交方式</vt:lpstr>
      <vt:lpstr>轉黑白(Gray Image)</vt:lpstr>
      <vt:lpstr>2.4.4 影像內插 (Interpolation)</vt:lpstr>
      <vt:lpstr>PowerPoint 簡報</vt:lpstr>
      <vt:lpstr>空間轉換</vt:lpstr>
      <vt:lpstr>Forward Mapping</vt:lpstr>
      <vt:lpstr>Inverse Mapping</vt:lpstr>
      <vt:lpstr>Performing an Image Warp</vt:lpstr>
      <vt:lpstr>仿射轉換(Affine Transform)</vt:lpstr>
      <vt:lpstr>仿射轉換(Affine Transform)</vt:lpstr>
      <vt:lpstr>PowerPoint 簡報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 1</dc:title>
  <dc:creator>caroul</dc:creator>
  <cp:lastModifiedBy>蔡明翰</cp:lastModifiedBy>
  <cp:revision>106</cp:revision>
  <cp:lastPrinted>2012-03-19T09:31:25Z</cp:lastPrinted>
  <dcterms:created xsi:type="dcterms:W3CDTF">2012-03-14T05:27:11Z</dcterms:created>
  <dcterms:modified xsi:type="dcterms:W3CDTF">2025-10-07T01:10:18Z</dcterms:modified>
</cp:coreProperties>
</file>